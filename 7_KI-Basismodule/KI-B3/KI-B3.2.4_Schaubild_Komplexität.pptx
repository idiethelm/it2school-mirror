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36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680">
          <p15:clr>
            <a:srgbClr val="9AA0A6"/>
          </p15:clr>
        </p15:guide>
        <p15:guide id="4" pos="4241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714" y="102"/>
      </p:cViewPr>
      <p:guideLst>
        <p:guide orient="horz" pos="1636"/>
        <p:guide pos="2880"/>
        <p:guide orient="horz" pos="680"/>
        <p:guide pos="424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76caedb7b2_2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76caedb7b2_2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Komplexität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848100" cy="236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Größe des Spielbretts:	 	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de" dirty="0"/>
              <a:t>Möglichkeiten pro Zug (Ø):	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de" dirty="0"/>
              <a:t>Länge des Spiels:				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de"/>
              <a:t>Mögliche Spielstellungen:</a:t>
            </a:r>
            <a:r>
              <a:rPr lang="de" dirty="0"/>
              <a:t>			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56" name="Google Shape;56;p13"/>
          <p:cNvSpPr txBox="1"/>
          <p:nvPr/>
        </p:nvSpPr>
        <p:spPr>
          <a:xfrm>
            <a:off x="311699" y="3125350"/>
            <a:ext cx="7641675" cy="20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spcAft>
                <a:spcPts val="1600"/>
              </a:spcAft>
            </a:pPr>
            <a:r>
              <a:rPr lang="de" sz="1700" dirty="0">
                <a:solidFill>
                  <a:schemeClr val="dk2"/>
                </a:solidFill>
              </a:rPr>
              <a:t>Kombinatorische Explosion</a:t>
            </a:r>
            <a:br>
              <a:rPr lang="de" sz="1700" dirty="0">
                <a:solidFill>
                  <a:schemeClr val="dk2"/>
                </a:solidFill>
              </a:rPr>
            </a:br>
            <a:r>
              <a:rPr lang="de" sz="1700" dirty="0">
                <a:solidFill>
                  <a:schemeClr val="dk2"/>
                </a:solidFill>
              </a:rPr>
              <a:t>der möglichen Spielstellungen:</a:t>
            </a:r>
            <a:br>
              <a:rPr lang="de" sz="1800" dirty="0">
                <a:solidFill>
                  <a:schemeClr val="dk1"/>
                </a:solidFill>
              </a:rPr>
            </a:br>
            <a:r>
              <a:rPr lang="de" sz="1800" dirty="0">
                <a:solidFill>
                  <a:schemeClr val="dk1"/>
                </a:solidFill>
              </a:rPr>
              <a:t>	35		1. Zug		200</a:t>
            </a:r>
            <a:br>
              <a:rPr lang="de" sz="1800" dirty="0">
                <a:solidFill>
                  <a:schemeClr val="dk1"/>
                </a:solidFill>
              </a:rPr>
            </a:br>
            <a:r>
              <a:rPr lang="de" sz="1800" dirty="0">
                <a:solidFill>
                  <a:schemeClr val="dk1"/>
                </a:solidFill>
              </a:rPr>
              <a:t>	1225		2. Zug		40 000</a:t>
            </a:r>
            <a:br>
              <a:rPr lang="de" sz="1800" dirty="0">
                <a:solidFill>
                  <a:schemeClr val="dk1"/>
                </a:solidFill>
              </a:rPr>
            </a:br>
            <a:r>
              <a:rPr lang="de" sz="1800" dirty="0">
                <a:solidFill>
                  <a:schemeClr val="dk1"/>
                </a:solidFill>
              </a:rPr>
              <a:t>	42 875		3. Zug		8 000 000</a:t>
            </a:r>
            <a:br>
              <a:rPr lang="de" sz="1800" dirty="0">
                <a:solidFill>
                  <a:schemeClr val="dk1"/>
                </a:solidFill>
              </a:rPr>
            </a:br>
            <a:r>
              <a:rPr lang="de" sz="1800" dirty="0">
                <a:solidFill>
                  <a:schemeClr val="dk1"/>
                </a:solidFill>
              </a:rPr>
              <a:t>	1 500 625	4. Zug		1 600 000 000</a:t>
            </a:r>
            <a:endParaRPr dirty="0"/>
          </a:p>
        </p:txBody>
      </p:sp>
      <p:sp>
        <p:nvSpPr>
          <p:cNvPr id="57" name="Google Shape;57;p13"/>
          <p:cNvSpPr txBox="1"/>
          <p:nvPr/>
        </p:nvSpPr>
        <p:spPr>
          <a:xfrm>
            <a:off x="4108575" y="1164050"/>
            <a:ext cx="993000" cy="20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>
                <a:solidFill>
                  <a:schemeClr val="dk1"/>
                </a:solidFill>
              </a:rPr>
              <a:t>3x3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de" sz="1800">
                <a:solidFill>
                  <a:schemeClr val="dk1"/>
                </a:solidFill>
              </a:rPr>
              <a:t>4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de" sz="1800">
                <a:solidFill>
                  <a:schemeClr val="dk1"/>
                </a:solidFill>
              </a:rPr>
              <a:t>3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de" sz="1800">
                <a:solidFill>
                  <a:schemeClr val="dk1"/>
                </a:solidFill>
              </a:rPr>
              <a:t>&lt;10^2 </a:t>
            </a:r>
            <a:endParaRPr/>
          </a:p>
        </p:txBody>
      </p:sp>
      <p:grpSp>
        <p:nvGrpSpPr>
          <p:cNvPr id="58" name="Google Shape;58;p13"/>
          <p:cNvGrpSpPr/>
          <p:nvPr/>
        </p:nvGrpSpPr>
        <p:grpSpPr>
          <a:xfrm>
            <a:off x="6957317" y="328750"/>
            <a:ext cx="1252808" cy="2984500"/>
            <a:chOff x="6957317" y="328750"/>
            <a:chExt cx="1252808" cy="2984500"/>
          </a:xfrm>
        </p:grpSpPr>
        <p:pic>
          <p:nvPicPr>
            <p:cNvPr id="59" name="Google Shape;59;p13"/>
            <p:cNvPicPr preferRelativeResize="0"/>
            <p:nvPr/>
          </p:nvPicPr>
          <p:blipFill rotWithShape="1">
            <a:blip r:embed="rId3">
              <a:alphaModFix/>
            </a:blip>
            <a:srcRect l="22002"/>
            <a:stretch/>
          </p:blipFill>
          <p:spPr>
            <a:xfrm>
              <a:off x="6957317" y="328750"/>
              <a:ext cx="1180070" cy="835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" name="Google Shape;60;p13"/>
            <p:cNvSpPr txBox="1"/>
            <p:nvPr/>
          </p:nvSpPr>
          <p:spPr>
            <a:xfrm>
              <a:off x="6957325" y="1164050"/>
              <a:ext cx="1252800" cy="214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de" sz="1800">
                  <a:solidFill>
                    <a:schemeClr val="dk1"/>
                  </a:solidFill>
                </a:rPr>
                <a:t>19x19</a:t>
              </a:r>
              <a:endParaRPr sz="1800">
                <a:solidFill>
                  <a:schemeClr val="dk1"/>
                </a:solidFill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lang="de" sz="1800">
                  <a:solidFill>
                    <a:schemeClr val="dk1"/>
                  </a:solidFill>
                </a:rPr>
                <a:t>200-300</a:t>
              </a:r>
              <a:endParaRPr sz="1800">
                <a:solidFill>
                  <a:schemeClr val="dk1"/>
                </a:solidFill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lang="de" sz="1800">
                  <a:solidFill>
                    <a:schemeClr val="dk1"/>
                  </a:solidFill>
                </a:rPr>
                <a:t>200</a:t>
              </a:r>
              <a:endParaRPr sz="1800">
                <a:solidFill>
                  <a:schemeClr val="dk1"/>
                </a:solidFill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1600"/>
                </a:spcBef>
                <a:spcAft>
                  <a:spcPts val="1600"/>
                </a:spcAft>
                <a:buNone/>
              </a:pPr>
              <a:r>
                <a:rPr lang="de" sz="1800">
                  <a:solidFill>
                    <a:schemeClr val="dk1"/>
                  </a:solidFill>
                </a:rPr>
                <a:t>10^170</a:t>
              </a:r>
              <a:endParaRPr sz="1800">
                <a:solidFill>
                  <a:schemeClr val="dk1"/>
                </a:solidFill>
              </a:endParaRPr>
            </a:p>
          </p:txBody>
        </p:sp>
      </p:grpSp>
      <p:grpSp>
        <p:nvGrpSpPr>
          <p:cNvPr id="61" name="Google Shape;61;p13"/>
          <p:cNvGrpSpPr/>
          <p:nvPr/>
        </p:nvGrpSpPr>
        <p:grpSpPr>
          <a:xfrm>
            <a:off x="5328613" y="328750"/>
            <a:ext cx="1253112" cy="3835300"/>
            <a:chOff x="5328613" y="328750"/>
            <a:chExt cx="1253112" cy="3835300"/>
          </a:xfrm>
        </p:grpSpPr>
        <p:pic>
          <p:nvPicPr>
            <p:cNvPr id="62" name="Google Shape;62;p1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328613" y="328750"/>
              <a:ext cx="1252951" cy="8353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" name="Google Shape;63;p13"/>
            <p:cNvSpPr txBox="1"/>
            <p:nvPr/>
          </p:nvSpPr>
          <p:spPr>
            <a:xfrm>
              <a:off x="5328625" y="1164050"/>
              <a:ext cx="1253100" cy="300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de" sz="1800">
                  <a:solidFill>
                    <a:schemeClr val="dk1"/>
                  </a:solidFill>
                </a:rPr>
                <a:t>8x8</a:t>
              </a:r>
              <a:endParaRPr sz="1800">
                <a:solidFill>
                  <a:schemeClr val="dk1"/>
                </a:solidFill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lang="de" sz="1800">
                  <a:solidFill>
                    <a:schemeClr val="dk1"/>
                  </a:solidFill>
                </a:rPr>
                <a:t>35</a:t>
              </a:r>
              <a:endParaRPr sz="1800">
                <a:solidFill>
                  <a:schemeClr val="dk1"/>
                </a:solidFill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lang="de" sz="1800">
                  <a:solidFill>
                    <a:schemeClr val="dk1"/>
                  </a:solidFill>
                </a:rPr>
                <a:t>60	</a:t>
              </a:r>
              <a:endParaRPr sz="1800">
                <a:solidFill>
                  <a:schemeClr val="dk1"/>
                </a:solidFill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1600"/>
                </a:spcBef>
                <a:spcAft>
                  <a:spcPts val="1600"/>
                </a:spcAft>
                <a:buNone/>
              </a:pPr>
              <a:r>
                <a:rPr lang="de" sz="1800">
                  <a:solidFill>
                    <a:schemeClr val="dk1"/>
                  </a:solidFill>
                </a:rPr>
                <a:t>10^44</a:t>
              </a:r>
              <a:endParaRPr/>
            </a:p>
          </p:txBody>
        </p:sp>
      </p:grpSp>
      <p:pic>
        <p:nvPicPr>
          <p:cNvPr id="64" name="Google Shape;64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76610" y="319513"/>
            <a:ext cx="821742" cy="82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</Words>
  <Application>Microsoft Office PowerPoint</Application>
  <PresentationFormat>Bildschirmpräsentation (16:9)</PresentationFormat>
  <Paragraphs>18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3" baseType="lpstr">
      <vt:lpstr>Arial</vt:lpstr>
      <vt:lpstr>Simple Light</vt:lpstr>
      <vt:lpstr>Komplexität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Komplexität</dc:title>
  <cp:lastModifiedBy>Müller, Maximilian | Wissensfabrik</cp:lastModifiedBy>
  <cp:revision>3</cp:revision>
  <dcterms:modified xsi:type="dcterms:W3CDTF">2023-06-30T07:56:44Z</dcterms:modified>
</cp:coreProperties>
</file>